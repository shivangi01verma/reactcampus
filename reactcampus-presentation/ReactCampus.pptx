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E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229"/>
    <p:restoredTop sz="94610"/>
  </p:normalViewPr>
  <p:slideViewPr>
    <p:cSldViewPr snapToGrid="0" snapToObjects="1">
      <p:cViewPr varScale="1">
        <p:scale>
          <a:sx n="139" d="100"/>
          <a:sy n="139" d="100"/>
        </p:scale>
        <p:origin x="176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0424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62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ReactCampus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</a:rPr>
              <a:t>How We Built Our College Ranking System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</a:rPr>
              <a:t>From Raw Data to Actionable Insights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Data Analytics Team Presentation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</a:rPr>
              <a:t>The Challenge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046720" cy="1645920"/>
          </a:xfrm>
          <a:prstGeom prst="rect">
            <a:avLst/>
          </a:prstGeom>
          <a:solidFill>
            <a:srgbClr val="FCF4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0000"/>
                </a:solidFill>
              </a:rPr>
              <a:t>How do we help students choose the right college from 200+ options across India?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62FE"/>
                </a:solidFill>
              </a:rPr>
              <a:t>Our Solution: Data-Driven College Scoring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35661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80160" y="356616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Collect data on 211 colleges across 31 states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977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🧹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280160" y="397764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Clean and standardize inconsistent data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43891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280160" y="438912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Create fair scoring system (0-100 scale)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48006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🏆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280160" y="480060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Rank colleges into 4 tiers for easy comparison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5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</a:rPr>
              <a:t>Step 1: Data Collection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701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62FE"/>
                </a:solidFill>
              </a:rPr>
              <a:t>What We Did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374214"/>
            <a:ext cx="36576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6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557094"/>
            <a:ext cx="32918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✓ Gathered data on 213 colleges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✓ 27 different metrics per college: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   • Placement rates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   • Average packages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   • Faculty ratios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   • Infrastructure scores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   • NAAC grades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   • And 22 more...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✓ Included IITs, NITs, private universities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0" y="91701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62FE"/>
                </a:solidFill>
              </a:rPr>
              <a:t>Behind the Scenes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0" y="1374214"/>
            <a:ext cx="4023360" cy="1828800"/>
          </a:xfrm>
          <a:prstGeom prst="rect">
            <a:avLst/>
          </a:prstGeom>
          <a:solidFill>
            <a:srgbClr val="F5F5F5"/>
          </a:solidFill>
          <a:ln w="12700">
            <a:solidFill>
              <a:srgbClr val="C6C6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663440" y="1465654"/>
            <a:ext cx="3840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colleges = [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("IIT Bombay", "Mumbai", "A++"),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("IIT Delhi", "New Delhi", "A++"),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...211 more colleges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each college: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calculate placement_rate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calculate avg_package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...25 more metrics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3385894"/>
            <a:ext cx="4023360" cy="1188720"/>
          </a:xfrm>
          <a:prstGeom prst="rect">
            <a:avLst/>
          </a:prstGeom>
          <a:solidFill>
            <a:srgbClr val="FCF4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0" y="347733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</a:rPr>
              <a:t>💡 Why This Matters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3843094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We created a comprehensive dataset covering every important factor students care about when choosing a college.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757494"/>
            <a:ext cx="8046720" cy="237746"/>
          </a:xfrm>
          <a:prstGeom prst="rect">
            <a:avLst/>
          </a:prstGeom>
          <a:solidFill>
            <a:srgbClr val="24A1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4830781"/>
            <a:ext cx="7680960" cy="1188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📁 Output: indian_colleges_dataset.csv → 213 colleges × 27 metrics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EFB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</a:rPr>
              <a:t>Step 2: Data Cleaning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A1E28"/>
                </a:solidFill>
              </a:rPr>
              <a:t>Problems We Found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65760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DA1E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3291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❌ 2 duplicate colleges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❌ Inconsistent state names: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   'Maharashtra' vs 'MH'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❌ Missing values (~5%)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❌ Outliers in salary data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0" y="11887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4A148"/>
                </a:solidFill>
              </a:rPr>
              <a:t>How We Fixed It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0" y="1645920"/>
            <a:ext cx="4023360" cy="2011680"/>
          </a:xfrm>
          <a:prstGeom prst="rect">
            <a:avLst/>
          </a:prstGeom>
          <a:solidFill>
            <a:srgbClr val="F5F5F5"/>
          </a:solidFill>
          <a:ln w="25400">
            <a:solidFill>
              <a:srgbClr val="24A1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0" y="182880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Remove duplicates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213 → 211 colleges ✓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Standardize names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'MH' → 'Maharashtra' ✓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Fill missing values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Use median values ✓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Remove extreme outliers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Keep realistic data ✓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3613457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62FE"/>
                </a:solidFill>
              </a:rPr>
              <a:t>Before vs After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371600" y="3991830"/>
            <a:ext cx="2743200" cy="731520"/>
          </a:xfrm>
          <a:prstGeom prst="rect">
            <a:avLst/>
          </a:prstGeom>
          <a:solidFill>
            <a:srgbClr val="DA1E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371600" y="408327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BEFORE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213 colleges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~5% issues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97680" y="4174710"/>
            <a:ext cx="548640" cy="365760"/>
          </a:xfrm>
          <a:prstGeom prst="rightArrow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029200" y="3991830"/>
            <a:ext cx="2743200" cy="731520"/>
          </a:xfrm>
          <a:prstGeom prst="rect">
            <a:avLst/>
          </a:prstGeom>
          <a:solidFill>
            <a:srgbClr val="24A1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0" y="408327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AFTER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211 colleges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100% clean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824251"/>
            <a:ext cx="8046720" cy="271170"/>
          </a:xfrm>
          <a:prstGeom prst="rect">
            <a:avLst/>
          </a:prstGeom>
          <a:solidFill>
            <a:srgbClr val="24A1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4786415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✅ Result: 99.1% data retention with 100% quality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4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2973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</a:rPr>
              <a:t>Step 3: Creating the Scoring System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54493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62FE"/>
                </a:solidFill>
              </a:rPr>
              <a:t>Our Scoring Formula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311693"/>
            <a:ext cx="365760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494573"/>
            <a:ext cx="365760" cy="365760"/>
          </a:xfrm>
          <a:prstGeom prst="rect">
            <a:avLst/>
          </a:prstGeom>
          <a:solidFill>
            <a:srgbClr val="24A1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88720" y="1494573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Placement Rate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91840" y="1494573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0000"/>
                </a:solidFill>
              </a:rPr>
              <a:t>25%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1951773"/>
            <a:ext cx="365760" cy="365760"/>
          </a:xfrm>
          <a:prstGeom prst="rect">
            <a:avLst/>
          </a:prstGeom>
          <a:solidFill>
            <a:srgbClr val="0F62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88720" y="1951773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Average Package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91840" y="1951773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0000"/>
                </a:solidFill>
              </a:rPr>
              <a:t>20%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408973"/>
            <a:ext cx="365760" cy="365760"/>
          </a:xfrm>
          <a:prstGeom prst="rect">
            <a:avLst/>
          </a:prstGeom>
          <a:solidFill>
            <a:srgbClr val="8A3F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88720" y="2408973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NAAC Grade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2408973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0000"/>
                </a:solidFill>
              </a:rPr>
              <a:t>15%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2866173"/>
            <a:ext cx="365760" cy="365760"/>
          </a:xfrm>
          <a:prstGeom prst="rect">
            <a:avLst/>
          </a:prstGeom>
          <a:solidFill>
            <a:srgbClr val="FF83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188720" y="2866173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Faculty Ratio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91840" y="2866173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0000"/>
                </a:solidFill>
              </a:rPr>
              <a:t>10%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3323373"/>
            <a:ext cx="365760" cy="365760"/>
          </a:xfrm>
          <a:prstGeom prst="rect">
            <a:avLst/>
          </a:prstGeom>
          <a:solidFill>
            <a:srgbClr val="D9FB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188720" y="3323373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Infrastructure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91840" y="3323373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0000"/>
                </a:solidFill>
              </a:rPr>
              <a:t>10%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3780573"/>
            <a:ext cx="365760" cy="365760"/>
          </a:xfrm>
          <a:prstGeom prst="rect">
            <a:avLst/>
          </a:prstGeom>
          <a:solidFill>
            <a:srgbClr val="DEFB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188720" y="3780573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Companies Visiting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91840" y="3780573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0000"/>
                </a:solidFill>
              </a:rPr>
              <a:t>10%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" y="4237773"/>
            <a:ext cx="365760" cy="365760"/>
          </a:xfrm>
          <a:prstGeom prst="rect">
            <a:avLst/>
          </a:prstGeom>
          <a:solidFill>
            <a:srgbClr val="DA1E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188720" y="4237773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Selectivity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91840" y="4237773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0000"/>
                </a:solidFill>
              </a:rPr>
              <a:t>10%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1520" y="4786413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62FE"/>
                </a:solidFill>
              </a:rPr>
              <a:t>= Score (0-100)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0" y="854493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62FE"/>
                </a:solidFill>
              </a:rPr>
              <a:t>How It Works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572000" y="1311693"/>
            <a:ext cx="4023360" cy="27889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54880" y="1403133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1️⃣ Normalize all metrics to 0-1 scale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754880" y="1768893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2️⃣ Apply weights to each component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754880" y="2134653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3️⃣ Sum up to get final score (0-100)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754880" y="2500413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</a:rPr>
              <a:t>4️⃣ Assign tier based on score: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937760" y="2866173"/>
            <a:ext cx="1097280" cy="274320"/>
          </a:xfrm>
          <a:prstGeom prst="rect">
            <a:avLst/>
          </a:prstGeom>
          <a:solidFill>
            <a:srgbClr val="24A1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937760" y="2866173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Tier 1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126480" y="2866173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75-100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937760" y="3186213"/>
            <a:ext cx="1097280" cy="274320"/>
          </a:xfrm>
          <a:prstGeom prst="rect">
            <a:avLst/>
          </a:prstGeom>
          <a:solidFill>
            <a:srgbClr val="0F62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937760" y="3186213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Tier 2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126480" y="3186213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55-74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937760" y="3506253"/>
            <a:ext cx="1097280" cy="274320"/>
          </a:xfrm>
          <a:prstGeom prst="rect">
            <a:avLst/>
          </a:prstGeom>
          <a:solidFill>
            <a:srgbClr val="FF83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937760" y="3506253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Tier 3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126480" y="3506253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35-54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937760" y="3826293"/>
            <a:ext cx="1097280" cy="274320"/>
          </a:xfrm>
          <a:prstGeom prst="rect">
            <a:avLst/>
          </a:prstGeom>
          <a:solidFill>
            <a:srgbClr val="DA1E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937760" y="3826293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Tier 4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126480" y="3826293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0-34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572000" y="4146333"/>
            <a:ext cx="4023360" cy="997167"/>
          </a:xfrm>
          <a:prstGeom prst="rect">
            <a:avLst/>
          </a:prstGeom>
          <a:solidFill>
            <a:srgbClr val="DEFB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754880" y="4237773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</a:rPr>
              <a:t>💡 Why This Matters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4754880" y="4445879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Students can now compare colleges objectively using a single score that considers all important factors.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9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</a:rPr>
              <a:t>The Results: College Distribution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828800" cy="1828800"/>
          </a:xfrm>
          <a:prstGeom prst="rect">
            <a:avLst/>
          </a:prstGeom>
          <a:solidFill>
            <a:srgbClr val="24A148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</a:rPr>
              <a:t>10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Tier 1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Top Performers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291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0000"/>
                </a:solidFill>
              </a:rPr>
              <a:t>IITs, IISc, BITS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51760" y="1371600"/>
            <a:ext cx="1828800" cy="1828800"/>
          </a:xfrm>
          <a:prstGeom prst="rect">
            <a:avLst/>
          </a:prstGeom>
          <a:solidFill>
            <a:srgbClr val="0F62FE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651760" y="15544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</a:rPr>
              <a:t>85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2651760" y="23774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Tier 2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Strong Colleges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651760" y="3291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0000"/>
                </a:solidFill>
              </a:rPr>
              <a:t>NITs, Top Private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371600"/>
            <a:ext cx="1828800" cy="1828800"/>
          </a:xfrm>
          <a:prstGeom prst="rect">
            <a:avLst/>
          </a:prstGeom>
          <a:solidFill>
            <a:srgbClr val="FF832B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0" y="15544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</a:rPr>
              <a:t>107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4754880" y="23774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Tier 3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Good Options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0" y="3291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0000"/>
                </a:solidFill>
              </a:rPr>
              <a:t>State Universities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0" y="1371600"/>
            <a:ext cx="1828800" cy="1828800"/>
          </a:xfrm>
          <a:prstGeom prst="rect">
            <a:avLst/>
          </a:prstGeom>
          <a:solidFill>
            <a:srgbClr val="DA1E28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58000" y="15544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</a:rPr>
              <a:t>9</a:t>
            </a:r>
            <a:endParaRPr lang="en-US" sz="5600" dirty="0"/>
          </a:p>
        </p:txBody>
      </p:sp>
      <p:sp>
        <p:nvSpPr>
          <p:cNvPr id="17" name="Text 15"/>
          <p:cNvSpPr/>
          <p:nvPr/>
        </p:nvSpPr>
        <p:spPr>
          <a:xfrm>
            <a:off x="6858000" y="23774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Tier 4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Emerging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0" y="3291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0000"/>
                </a:solidFill>
              </a:rPr>
              <a:t>New Institutions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222" y="3508616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62FE"/>
                </a:solidFill>
              </a:rPr>
              <a:t>Key Insights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48640" y="3836540"/>
            <a:ext cx="8046720" cy="13030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1520" y="38594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📊 Average Score: 53.5/100 across all colleges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" y="41794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💼 Average Placement Rate: 69% (varies by tier)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44994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💰 Average Package: ₹9.17 LPA (Tier 1: ₹18+ LPA)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1520" y="48195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🏛️ Government colleges dominate Tier 1 &amp; 2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EFB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3604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</a:rPr>
              <a:t>Real Example: IIT Bombay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785124"/>
            <a:ext cx="3657600" cy="1371600"/>
          </a:xfrm>
          <a:prstGeom prst="rect">
            <a:avLst/>
          </a:prstGeom>
          <a:solidFill>
            <a:srgbClr val="FFFFFF"/>
          </a:solidFill>
          <a:ln w="38100">
            <a:solidFill>
              <a:srgbClr val="24A1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96800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</a:rPr>
              <a:t>🏛️ IIT Bombay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33376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Mumbai, Maharashtra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699524"/>
            <a:ext cx="914400" cy="365760"/>
          </a:xfrm>
          <a:prstGeom prst="rect">
            <a:avLst/>
          </a:prstGeom>
          <a:solidFill>
            <a:srgbClr val="24A1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699524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Tier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28800" y="1699524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A148"/>
                </a:solidFill>
              </a:rPr>
              <a:t>Score: 97.0/100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0" y="78512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62FE"/>
                </a:solidFill>
              </a:rPr>
              <a:t>Score Breakdown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0" y="124232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Placement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1288044"/>
            <a:ext cx="2286000" cy="182880"/>
          </a:xfrm>
          <a:prstGeom prst="rect">
            <a:avLst/>
          </a:prstGeom>
          <a:solidFill>
            <a:srgbClr val="C6C6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035040" y="1288044"/>
            <a:ext cx="2176272" cy="182880"/>
          </a:xfrm>
          <a:prstGeom prst="rect">
            <a:avLst/>
          </a:prstGeom>
          <a:solidFill>
            <a:srgbClr val="24A1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412480" y="124232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</a:rPr>
              <a:t>23.8/25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0" y="160808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Package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653804"/>
            <a:ext cx="2286000" cy="182880"/>
          </a:xfrm>
          <a:prstGeom prst="rect">
            <a:avLst/>
          </a:prstGeom>
          <a:solidFill>
            <a:srgbClr val="C6C6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35040" y="1653804"/>
            <a:ext cx="2194560" cy="182880"/>
          </a:xfrm>
          <a:prstGeom prst="rect">
            <a:avLst/>
          </a:prstGeom>
          <a:solidFill>
            <a:srgbClr val="0F62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412480" y="160808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</a:rPr>
              <a:t>19.2/20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0" y="197384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NAAC Grade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35040" y="2019564"/>
            <a:ext cx="2286000" cy="182880"/>
          </a:xfrm>
          <a:prstGeom prst="rect">
            <a:avLst/>
          </a:prstGeom>
          <a:solidFill>
            <a:srgbClr val="C6C6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035040" y="2019564"/>
            <a:ext cx="2286000" cy="182880"/>
          </a:xfrm>
          <a:prstGeom prst="rect">
            <a:avLst/>
          </a:prstGeom>
          <a:solidFill>
            <a:srgbClr val="8A3F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412480" y="197384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</a:rPr>
              <a:t>15/15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0" y="233960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Faculty Ratio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35040" y="2385324"/>
            <a:ext cx="2286000" cy="182880"/>
          </a:xfrm>
          <a:prstGeom prst="rect">
            <a:avLst/>
          </a:prstGeom>
          <a:solidFill>
            <a:srgbClr val="C6C6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035040" y="2385324"/>
            <a:ext cx="2171700" cy="182880"/>
          </a:xfrm>
          <a:prstGeom prst="rect">
            <a:avLst/>
          </a:prstGeom>
          <a:solidFill>
            <a:srgbClr val="FF83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412480" y="233960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</a:rPr>
              <a:t>9.5/10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0" y="270536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Infrastructure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35040" y="2751084"/>
            <a:ext cx="2286000" cy="182880"/>
          </a:xfrm>
          <a:prstGeom prst="rect">
            <a:avLst/>
          </a:prstGeom>
          <a:solidFill>
            <a:srgbClr val="C6C6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035040" y="2751084"/>
            <a:ext cx="2240280" cy="182880"/>
          </a:xfrm>
          <a:prstGeom prst="rect">
            <a:avLst/>
          </a:prstGeom>
          <a:solidFill>
            <a:schemeClr val="accent5">
              <a:lumMod val="7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412480" y="27053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</a:rPr>
              <a:t>9.8/10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0" y="307112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Companies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035040" y="3116844"/>
            <a:ext cx="2286000" cy="182880"/>
          </a:xfrm>
          <a:prstGeom prst="rect">
            <a:avLst/>
          </a:prstGeom>
          <a:solidFill>
            <a:srgbClr val="C6C6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035040" y="3116844"/>
            <a:ext cx="2217420" cy="182880"/>
          </a:xfrm>
          <a:prstGeom prst="rect">
            <a:avLst/>
          </a:prstGeom>
          <a:solidFill>
            <a:srgbClr val="C00E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412480" y="307112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</a:rPr>
              <a:t>9.7/10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0" y="343688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Selectivity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035040" y="3482604"/>
            <a:ext cx="2286000" cy="182880"/>
          </a:xfrm>
          <a:prstGeom prst="rect">
            <a:avLst/>
          </a:prstGeom>
          <a:solidFill>
            <a:srgbClr val="C6C6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035040" y="3482604"/>
            <a:ext cx="2286000" cy="182880"/>
          </a:xfrm>
          <a:prstGeom prst="rect">
            <a:avLst/>
          </a:prstGeom>
          <a:solidFill>
            <a:srgbClr val="DA1E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412480" y="343688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</a:rPr>
              <a:t>10/10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8640" y="2202444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62FE"/>
                </a:solidFill>
              </a:rPr>
              <a:t>Why IIT Bombay Scored 97/100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88287" y="2555593"/>
            <a:ext cx="4415133" cy="2468880"/>
          </a:xfrm>
          <a:prstGeom prst="rect">
            <a:avLst/>
          </a:prstGeom>
          <a:solidFill>
            <a:srgbClr val="FCF4D6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731520" y="2692753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✅ 95%+ placement rate (nearly every student gets placed)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31520" y="3012793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✅ ₹18.5 LPA average package (among highest in India)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31520" y="3332833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✅ A++ NAAC grade (highest accreditation)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31520" y="3652873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✅ Excellent faculty ratio (1:12 - personalized attention)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31520" y="3972913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✅ World-class infrastructure and facilities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31520" y="4292953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✅ 200+ top companies visit for recruitment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31520" y="4612993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✅ Highly selective (only top JEE Advanced rankers)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5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8287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</a:rPr>
              <a:t>How We Use This Data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728367"/>
            <a:ext cx="2560320" cy="2743200"/>
          </a:xfrm>
          <a:prstGeom prst="rect">
            <a:avLst/>
          </a:prstGeom>
          <a:solidFill>
            <a:srgbClr val="DEFBE6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911247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🔍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1551327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</a:rPr>
              <a:t>Smart Search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008527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Students can filter by: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• Score range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• Location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• Tier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• College type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728367"/>
            <a:ext cx="2560320" cy="2743200"/>
          </a:xfrm>
          <a:prstGeom prst="rect">
            <a:avLst/>
          </a:prstGeom>
          <a:solidFill>
            <a:srgbClr val="FCF4D6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91840" y="911247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📊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3291840" y="1551327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</a:rPr>
              <a:t>Compare Colleges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474720" y="2008527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Side-by-side comparison: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• Scores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• Placement rates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• Packages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• Facilities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728367"/>
            <a:ext cx="2560320" cy="2743200"/>
          </a:xfrm>
          <a:prstGeom prst="rect">
            <a:avLst/>
          </a:prstGeom>
          <a:solidFill>
            <a:srgbClr val="D9FBF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035040" y="911247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💡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6035040" y="1551327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</a:rPr>
              <a:t>Recommendations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217920" y="2008527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Personalized suggestions: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• Based on preferences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• Budget constraints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• Location needs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• Career goals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745887"/>
            <a:ext cx="8046720" cy="1371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3837327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62FE"/>
                </a:solidFill>
              </a:rPr>
              <a:t>Business Impact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31520" y="4294527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✓ Better user experience → Higher engagement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✓ Data-driven decisions → More trust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✓ Objective rankings → Reduced bias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✓ Comprehensive coverage → One-stop solution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4053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</a:rPr>
              <a:t>Data Quality &amp; Reliability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35573"/>
            <a:ext cx="1828800" cy="1371600"/>
          </a:xfrm>
          <a:prstGeom prst="rect">
            <a:avLst/>
          </a:prstGeom>
          <a:solidFill>
            <a:srgbClr val="24A1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927013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✅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475653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99.1%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932853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Data Retention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51760" y="835573"/>
            <a:ext cx="1828800" cy="1371600"/>
          </a:xfrm>
          <a:prstGeom prst="rect">
            <a:avLst/>
          </a:prstGeom>
          <a:solidFill>
            <a:srgbClr val="0F62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651760" y="927013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🏛️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651760" y="1475653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211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651760" y="1932853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Colleges Covered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835573"/>
            <a:ext cx="1828800" cy="1371600"/>
          </a:xfrm>
          <a:prstGeom prst="rect">
            <a:avLst/>
          </a:prstGeom>
          <a:solidFill>
            <a:srgbClr val="FF83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0" y="927013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🗺️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754880" y="1475653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31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754880" y="1932853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States Covered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0" y="835573"/>
            <a:ext cx="1828800" cy="1371600"/>
          </a:xfrm>
          <a:prstGeom prst="rect">
            <a:avLst/>
          </a:prstGeom>
          <a:solidFill>
            <a:srgbClr val="8A3F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58000" y="927013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📊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858000" y="1475653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27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858000" y="1932853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Metrics per College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2481493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4A148"/>
                </a:solidFill>
              </a:rPr>
              <a:t>Strengths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48640" y="2938693"/>
            <a:ext cx="365760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24A1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1520" y="3030133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✓ Comprehensive coverage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3350173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✓ Objective scoring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3670213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✓ Regular updates possible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" y="3990253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✓ Multiple data points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" y="4310293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✓ Transparent methodology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1520" y="4630333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✓ Easy to understand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37760" y="2481493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832B"/>
                </a:solidFill>
              </a:rPr>
              <a:t>Areas for Improvement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937760" y="2938693"/>
            <a:ext cx="365760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FF83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120640" y="3030133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⚠ Need real-time data feeds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120640" y="3350173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⚠ Add student reviews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120640" y="3670213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⚠ Include alumni success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120640" y="3990253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⚠ Track placement trends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120640" y="4310293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⚠ Add international colleges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120640" y="4630333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⚠ Integrate official APIs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62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750" y="409113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Next Steps &amp; Recommendations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371600" y="1305387"/>
            <a:ext cx="6400800" cy="10972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554480" y="1396827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62FE"/>
                </a:solidFill>
              </a:rPr>
              <a:t>Immediate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554480" y="1762587"/>
            <a:ext cx="6035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✓ Launch with current 211 colleges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554480" y="1991187"/>
            <a:ext cx="6035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✓ Monitor user feedback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54480" y="2219787"/>
            <a:ext cx="6035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✓ Track search patterns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371600" y="2585547"/>
            <a:ext cx="6400800" cy="10972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554480" y="2676987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62FE"/>
                </a:solidFill>
              </a:rPr>
              <a:t>Short-term (3 months)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54480" y="3042747"/>
            <a:ext cx="6035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✓ Add 100+ more colleges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554480" y="3271347"/>
            <a:ext cx="6035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✓ Integrate student reviews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554480" y="3499947"/>
            <a:ext cx="6035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✓ Add comparison tool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371600" y="3865707"/>
            <a:ext cx="6400800" cy="10972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554480" y="3957147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62FE"/>
                </a:solidFill>
              </a:rPr>
              <a:t>Long-term (6-12 months)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54480" y="4322907"/>
            <a:ext cx="6035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✓ Real-time data updates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554480" y="4551507"/>
            <a:ext cx="6035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✓ ML-based recommendations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554480" y="4780107"/>
            <a:ext cx="6035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✓ Mobile app launch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4A1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</a:rPr>
              <a:t>Questions?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28800" y="3657600"/>
            <a:ext cx="5486400" cy="1371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011680" y="384048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📊 Data Analytics Team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📧 analytics@reactcampus.com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🌐 www.reactcampus.com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1509</TotalTime>
  <Words>861</Words>
  <Application>Microsoft Macintosh PowerPoint</Application>
  <PresentationFormat>On-screen Show (16:9)</PresentationFormat>
  <Paragraphs>237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ReactCampus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ReactCampus: How We Built Our College Ranking System</dc:title>
  <dc:subject>Data Pipeline &amp; Analytics Overview</dc:subject>
  <dc:creator>Data Analytics Team</dc:creator>
  <cp:lastModifiedBy>Ayush Kumar Mahato</cp:lastModifiedBy>
  <cp:revision>3</cp:revision>
  <dcterms:created xsi:type="dcterms:W3CDTF">2026-04-05T21:28:17Z</dcterms:created>
  <dcterms:modified xsi:type="dcterms:W3CDTF">2026-04-06T22:38:25Z</dcterms:modified>
</cp:coreProperties>
</file>